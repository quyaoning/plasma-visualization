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8" r:id="rId7"/>
    <p:sldId id="266" r:id="rId8"/>
    <p:sldId id="270" r:id="rId9"/>
    <p:sldId id="27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754" y="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49cd0c5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" name="Google Shape;58;g3bf49cd0c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f49cd0c56_1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" name="Google Shape;63;g3bf49cd0c56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f49cd0c5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g3bf49cd0c5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f49cd0c56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g3bf49cd0c56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49cd0c56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bf49cd0c56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9672680-D2F2-D7CF-034C-0A137D96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f49cd0c56_1_53:notes">
            <a:extLst>
              <a:ext uri="{FF2B5EF4-FFF2-40B4-BE49-F238E27FC236}">
                <a16:creationId xmlns:a16="http://schemas.microsoft.com/office/drawing/2014/main" id="{EB50B435-6DA8-2BB6-EF7A-6FE1A6EFB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g3bf49cd0c56_1_53:notes">
            <a:extLst>
              <a:ext uri="{FF2B5EF4-FFF2-40B4-BE49-F238E27FC236}">
                <a16:creationId xmlns:a16="http://schemas.microsoft.com/office/drawing/2014/main" id="{7AF7320E-7130-B6B5-A600-C5AE42F58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9849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f49cd0c56_1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bf49cd0c56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9FCA51A4-8F9E-BF6B-7ED0-C47FA0F1C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f49cd0c56_1_160:notes">
            <a:extLst>
              <a:ext uri="{FF2B5EF4-FFF2-40B4-BE49-F238E27FC236}">
                <a16:creationId xmlns:a16="http://schemas.microsoft.com/office/drawing/2014/main" id="{A2C5B657-822A-9BC9-F536-7DBB693BC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bf49cd0c56_1_160:notes">
            <a:extLst>
              <a:ext uri="{FF2B5EF4-FFF2-40B4-BE49-F238E27FC236}">
                <a16:creationId xmlns:a16="http://schemas.microsoft.com/office/drawing/2014/main" id="{A736BC23-6B28-B967-ACD1-1EB939837D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437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>
          <a:extLst>
            <a:ext uri="{FF2B5EF4-FFF2-40B4-BE49-F238E27FC236}">
              <a16:creationId xmlns:a16="http://schemas.microsoft.com/office/drawing/2014/main" id="{704987B4-D61A-A1DC-F95F-6FD39930E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f49cd0c56_1_160:notes">
            <a:extLst>
              <a:ext uri="{FF2B5EF4-FFF2-40B4-BE49-F238E27FC236}">
                <a16:creationId xmlns:a16="http://schemas.microsoft.com/office/drawing/2014/main" id="{A9F6EA25-FA54-9B4A-9E60-182B83092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" name="Google Shape;187;g3bf49cd0c56_1_160:notes">
            <a:extLst>
              <a:ext uri="{FF2B5EF4-FFF2-40B4-BE49-F238E27FC236}">
                <a16:creationId xmlns:a16="http://schemas.microsoft.com/office/drawing/2014/main" id="{0C82A28C-4FD1-8B8E-21FE-6ED52C4FC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0804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slack.com/t/ion-i/shared_invite/zt-3rffsnr77-Z9qhdtawae_0rm4HZCqmng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hyperlink" Target="https://github.com/quyaoning/Plasma-Visualiz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gif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53684" y="0"/>
            <a:ext cx="363663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27000"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 rot="-259962">
            <a:off x="550141" y="542138"/>
            <a:ext cx="5472038" cy="6570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60906" y="524422"/>
            <a:ext cx="5472000" cy="657300"/>
          </a:xfrm>
          <a:prstGeom prst="rect">
            <a:avLst/>
          </a:prstGeom>
          <a:solidFill>
            <a:srgbClr val="D9E5F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660931" y="5200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pace Mono"/>
              <a:buNone/>
            </a:pPr>
            <a:r>
              <a:rPr lang="en" sz="3300" b="0" i="1" u="none" strike="noStrike" cap="none">
                <a:solidFill>
                  <a:schemeClr val="dk1"/>
                </a:solidFill>
                <a:latin typeface="Space Mono"/>
                <a:ea typeface="Space Mono"/>
                <a:cs typeface="Space Mono"/>
                <a:sym typeface="Space Mono"/>
              </a:rPr>
              <a:t>Agenda</a:t>
            </a:r>
            <a:endParaRPr sz="3300" b="0" i="1" u="none" strike="noStrike" cap="none">
              <a:solidFill>
                <a:schemeClr val="dk1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660931" y="161538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Intro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Plasma Chamber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Goal</a:t>
            </a:r>
            <a:r>
              <a:rPr lang="en-US" altLang="zh-CN" sz="2100" dirty="0">
                <a:solidFill>
                  <a:schemeClr val="dk1"/>
                </a:solidFill>
              </a:rPr>
              <a:t>s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US" sz="2100" dirty="0">
                <a:solidFill>
                  <a:schemeClr val="dk1"/>
                </a:solidFill>
              </a:rPr>
              <a:t>Timeline</a:t>
            </a:r>
            <a:endParaRPr sz="2100" dirty="0">
              <a:solidFill>
                <a:schemeClr val="dk1"/>
              </a:solidFill>
            </a:endParaRPr>
          </a:p>
          <a:p>
            <a:pPr marL="381000" marR="0" lvl="0" indent="-3746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" sz="2100" dirty="0">
                <a:solidFill>
                  <a:schemeClr val="dk1"/>
                </a:solidFill>
              </a:rPr>
              <a:t>Things to Do</a:t>
            </a:r>
            <a:endParaRPr sz="2100" dirty="0">
              <a:solidFill>
                <a:schemeClr val="dk1"/>
              </a:solidFill>
            </a:endParaRPr>
          </a:p>
        </p:txBody>
      </p:sp>
      <p:pic>
        <p:nvPicPr>
          <p:cNvPr id="69" name="Google Shape;69;p15" descr="A black background with a black squar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111" y="213804"/>
            <a:ext cx="903915" cy="1278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Intro</a:t>
            </a:r>
            <a:endParaRPr dirty="0"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628650" y="1531885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-US" sz="1325" dirty="0"/>
              <a:t>Working with plasma generation </a:t>
            </a:r>
            <a:r>
              <a:rPr lang="en-US" sz="1325" dirty="0" err="1"/>
              <a:t>subteam</a:t>
            </a:r>
            <a:endParaRPr sz="1325" dirty="0"/>
          </a:p>
          <a:p>
            <a:pPr lvl="1" indent="-312737">
              <a:lnSpc>
                <a:spcPct val="140000"/>
              </a:lnSpc>
              <a:buSzPts val="1325"/>
              <a:buChar char="-"/>
            </a:pPr>
            <a:r>
              <a:rPr lang="en-US" sz="1325" dirty="0"/>
              <a:t>Join if interested</a:t>
            </a:r>
            <a:r>
              <a:rPr lang="zh-CN" altLang="en-US" sz="1325" dirty="0"/>
              <a:t>（</a:t>
            </a:r>
            <a:r>
              <a:rPr lang="en-US" altLang="zh-CN" sz="1325" dirty="0">
                <a:hlinkClick r:id="rId3"/>
              </a:rPr>
              <a:t>https://join.slack.com/t/ion-i/shared_invite/zt-3rffsnr77-Z9qhdtawae_0rm4HZCqmng</a:t>
            </a:r>
            <a:r>
              <a:rPr lang="zh-CN" altLang="en-US" sz="1325" dirty="0"/>
              <a:t>）</a:t>
            </a:r>
            <a:endParaRPr lang="en-US" sz="1325" dirty="0"/>
          </a:p>
          <a:p>
            <a:pPr marL="457200" lvl="0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-US" sz="1325" dirty="0"/>
              <a:t>Visualization in Python</a:t>
            </a:r>
            <a:endParaRPr sz="925" dirty="0"/>
          </a:p>
          <a:p>
            <a:pPr marL="914400" lvl="1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" sz="1325" dirty="0"/>
              <a:t>Simulation still in progres</a:t>
            </a:r>
          </a:p>
          <a:p>
            <a:pPr marL="914400" lvl="1" indent="-312737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325"/>
              <a:buChar char="-"/>
            </a:pPr>
            <a:r>
              <a:rPr lang="en" sz="1325" dirty="0"/>
              <a:t>Particle Dynamics, Electric Field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Present in EOH/PECI; Publications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 err="1"/>
              <a:t>Github</a:t>
            </a:r>
            <a:r>
              <a:rPr lang="en-US" sz="1325" dirty="0"/>
              <a:t> </a:t>
            </a:r>
            <a:r>
              <a:rPr lang="zh-CN" altLang="en-US" sz="1325" dirty="0"/>
              <a:t>（</a:t>
            </a:r>
            <a:r>
              <a:rPr lang="en-US" altLang="zh-CN" sz="1325" dirty="0"/>
              <a:t>github.com/</a:t>
            </a:r>
            <a:r>
              <a:rPr lang="en-US" sz="1400" dirty="0" err="1">
                <a:hlinkClick r:id="rId4"/>
              </a:rPr>
              <a:t>quyaoning</a:t>
            </a:r>
            <a:r>
              <a:rPr lang="en-US" sz="1400" dirty="0">
                <a:hlinkClick r:id="rId4"/>
              </a:rPr>
              <a:t>/Plasma-Visualization</a:t>
            </a:r>
            <a:r>
              <a:rPr lang="en-US" sz="1400" dirty="0"/>
              <a:t>)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400" dirty="0"/>
              <a:t>Meeting Time</a:t>
            </a:r>
            <a:endParaRPr lang="en" sz="1325" dirty="0"/>
          </a:p>
        </p:txBody>
      </p:sp>
      <p:sp>
        <p:nvSpPr>
          <p:cNvPr id="76" name="Google Shape;76;p16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6" descr="University logo and wordmar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descr="A circular logo with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6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1" name="Google Shape;81;p16" descr="A black background with a black square&#10;&#10;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1CF4DC-241F-1C4C-7963-7D9FEA395962}"/>
              </a:ext>
            </a:extLst>
          </p:cNvPr>
          <p:cNvSpPr txBox="1"/>
          <p:nvPr/>
        </p:nvSpPr>
        <p:spPr>
          <a:xfrm>
            <a:off x="121114" y="4747263"/>
            <a:ext cx="154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000" dirty="0">
                <a:solidFill>
                  <a:schemeClr val="dk1"/>
                </a:solidFill>
              </a:rPr>
              <a:t>03/03/2026</a:t>
            </a:r>
            <a:endParaRPr lang="en-US"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altLang="zh-CN" sz="3000" b="1" dirty="0"/>
              <a:t>Plasma Chamber</a:t>
            </a:r>
            <a:endParaRPr dirty="0"/>
          </a:p>
        </p:txBody>
      </p:sp>
      <p:sp>
        <p:nvSpPr>
          <p:cNvPr id="90" name="Google Shape;90;p17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7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7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" name="Google Shape;95;p17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C9BC2-F700-FD0F-99B6-096C037F67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369219"/>
            <a:ext cx="7038870" cy="37742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Goals</a:t>
            </a:r>
            <a:endParaRPr dirty="0"/>
          </a:p>
        </p:txBody>
      </p:sp>
      <p:sp>
        <p:nvSpPr>
          <p:cNvPr id="120" name="Google Shape;120;p19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9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5" name="Google Shape;125;p19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75;p16">
            <a:extLst>
              <a:ext uri="{FF2B5EF4-FFF2-40B4-BE49-F238E27FC236}">
                <a16:creationId xmlns:a16="http://schemas.microsoft.com/office/drawing/2014/main" id="{B8911723-91D0-B909-3CCB-8F41A538E480}"/>
              </a:ext>
            </a:extLst>
          </p:cNvPr>
          <p:cNvSpPr txBox="1">
            <a:spLocks/>
          </p:cNvSpPr>
          <p:nvPr/>
        </p:nvSpPr>
        <p:spPr>
          <a:xfrm>
            <a:off x="477489" y="1592321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Dynamics in the Quartz Tube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3D cylinder view, gif/video</a:t>
            </a:r>
            <a:endParaRPr lang="en-US" sz="925" dirty="0"/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Particle Trajectory and State (Argon Ionization)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25" dirty="0"/>
              <a:t>Electric Field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Inputs: Position, Particle Type, Field Vector, Time</a:t>
            </a:r>
          </a:p>
          <a:p>
            <a:pPr lvl="1" indent="-312737">
              <a:lnSpc>
                <a:spcPct val="140000"/>
              </a:lnSpc>
              <a:buSzPts val="1325"/>
              <a:buFont typeface="Arial"/>
              <a:buChar char="-"/>
            </a:pPr>
            <a:r>
              <a:rPr lang="en-US" sz="1330" dirty="0"/>
              <a:t>From a txt/</a:t>
            </a:r>
            <a:r>
              <a:rPr lang="en-US" sz="1330" dirty="0" err="1"/>
              <a:t>json</a:t>
            </a:r>
            <a:r>
              <a:rPr lang="en-US" sz="1330" dirty="0"/>
              <a:t>/csv file, TBD</a:t>
            </a:r>
          </a:p>
          <a:p>
            <a:pPr indent="-312737">
              <a:lnSpc>
                <a:spcPct val="140000"/>
              </a:lnSpc>
              <a:spcBef>
                <a:spcPts val="400"/>
              </a:spcBef>
              <a:buSzPts val="1325"/>
              <a:buFont typeface="Arial"/>
              <a:buChar char="-"/>
            </a:pPr>
            <a:r>
              <a:rPr lang="en-US" sz="1325" dirty="0"/>
              <a:t>Interactive Website</a:t>
            </a:r>
            <a:endParaRPr lang="en-US" sz="1330" dirty="0"/>
          </a:p>
          <a:p>
            <a:pPr marL="144463" indent="0">
              <a:lnSpc>
                <a:spcPct val="140000"/>
              </a:lnSpc>
              <a:spcBef>
                <a:spcPts val="400"/>
              </a:spcBef>
              <a:buSzPts val="1325"/>
              <a:buNone/>
            </a:pPr>
            <a:endParaRPr lang="en-US" sz="1325" dirty="0"/>
          </a:p>
        </p:txBody>
      </p:sp>
      <p:pic>
        <p:nvPicPr>
          <p:cNvPr id="1026" name="Picture 2" descr="physics - Need help with gas particle simulation - Blender Stack Exchange">
            <a:extLst>
              <a:ext uri="{FF2B5EF4-FFF2-40B4-BE49-F238E27FC236}">
                <a16:creationId xmlns:a16="http://schemas.microsoft.com/office/drawing/2014/main" id="{567D0842-E2A1-048D-F9A6-A81B05000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292" y="650505"/>
            <a:ext cx="2110922" cy="2096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are fields? « KaiserScience">
            <a:extLst>
              <a:ext uri="{FF2B5EF4-FFF2-40B4-BE49-F238E27FC236}">
                <a16:creationId xmlns:a16="http://schemas.microsoft.com/office/drawing/2014/main" id="{8F7AA032-7EF9-EAB4-CC68-3F29A44E4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753" y="2982372"/>
            <a:ext cx="2028240" cy="2028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5FD0E-CD49-238E-100E-12748CD49865}"/>
              </a:ext>
            </a:extLst>
          </p:cNvPr>
          <p:cNvSpPr txBox="1"/>
          <p:nvPr/>
        </p:nvSpPr>
        <p:spPr>
          <a:xfrm>
            <a:off x="55987" y="4723937"/>
            <a:ext cx="154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000" dirty="0">
                <a:solidFill>
                  <a:schemeClr val="dk1"/>
                </a:solidFill>
              </a:rPr>
              <a:t>03/03/2026</a:t>
            </a:r>
            <a:endParaRPr lang="en-US"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8F6D484E-EA0D-63C7-C731-E99E4DAA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>
            <a:extLst>
              <a:ext uri="{FF2B5EF4-FFF2-40B4-BE49-F238E27FC236}">
                <a16:creationId xmlns:a16="http://schemas.microsoft.com/office/drawing/2014/main" id="{D7FDEC38-67D1-1012-DFAA-1C355D4BC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164" y="616818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Timeline</a:t>
            </a:r>
            <a:endParaRPr dirty="0"/>
          </a:p>
        </p:txBody>
      </p:sp>
      <p:sp>
        <p:nvSpPr>
          <p:cNvPr id="120" name="Google Shape;120;p19">
            <a:extLst>
              <a:ext uri="{FF2B5EF4-FFF2-40B4-BE49-F238E27FC236}">
                <a16:creationId xmlns:a16="http://schemas.microsoft.com/office/drawing/2014/main" id="{22F0AF42-EA87-43B1-A40D-8A78DABFAB8E}"/>
              </a:ext>
            </a:extLst>
          </p:cNvPr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9">
            <a:extLst>
              <a:ext uri="{FF2B5EF4-FFF2-40B4-BE49-F238E27FC236}">
                <a16:creationId xmlns:a16="http://schemas.microsoft.com/office/drawing/2014/main" id="{1AD05BF1-69A0-B4D5-2C56-89EB3B807C8D}"/>
              </a:ext>
            </a:extLst>
          </p:cNvPr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9" descr="University logo and wordmark">
            <a:extLst>
              <a:ext uri="{FF2B5EF4-FFF2-40B4-BE49-F238E27FC236}">
                <a16:creationId xmlns:a16="http://schemas.microsoft.com/office/drawing/2014/main" id="{57383910-C48D-8D18-B266-BC0E935D3F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 descr="A circular logo with text&#10;&#10;AI-generated content may be incorrect.">
            <a:extLst>
              <a:ext uri="{FF2B5EF4-FFF2-40B4-BE49-F238E27FC236}">
                <a16:creationId xmlns:a16="http://schemas.microsoft.com/office/drawing/2014/main" id="{FB5635C4-25F4-DEB3-F9EC-37188272AED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9">
            <a:extLst>
              <a:ext uri="{FF2B5EF4-FFF2-40B4-BE49-F238E27FC236}">
                <a16:creationId xmlns:a16="http://schemas.microsoft.com/office/drawing/2014/main" id="{04B30180-29F2-3EB5-B53F-00EC10B158AD}"/>
              </a:ext>
            </a:extLst>
          </p:cNvPr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25" name="Google Shape;125;p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9C17074-62D4-74E1-6B79-61FA920780E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>
            <a:extLst>
              <a:ext uri="{FF2B5EF4-FFF2-40B4-BE49-F238E27FC236}">
                <a16:creationId xmlns:a16="http://schemas.microsoft.com/office/drawing/2014/main" id="{8EF45065-0160-1280-7228-2DFA950DF64B}"/>
              </a:ext>
            </a:extLst>
          </p:cNvPr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845;p76">
            <a:extLst>
              <a:ext uri="{FF2B5EF4-FFF2-40B4-BE49-F238E27FC236}">
                <a16:creationId xmlns:a16="http://schemas.microsoft.com/office/drawing/2014/main" id="{4F9A5F5B-F071-AA43-B08F-E7BE5BE407D7}"/>
              </a:ext>
            </a:extLst>
          </p:cNvPr>
          <p:cNvSpPr/>
          <p:nvPr/>
        </p:nvSpPr>
        <p:spPr>
          <a:xfrm rot="711236" flipH="1">
            <a:off x="5824754" y="3076353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846;p76">
            <a:extLst>
              <a:ext uri="{FF2B5EF4-FFF2-40B4-BE49-F238E27FC236}">
                <a16:creationId xmlns:a16="http://schemas.microsoft.com/office/drawing/2014/main" id="{7925D015-290E-0308-7F66-417DBFB97F76}"/>
              </a:ext>
            </a:extLst>
          </p:cNvPr>
          <p:cNvSpPr/>
          <p:nvPr/>
        </p:nvSpPr>
        <p:spPr>
          <a:xfrm rot="20888764">
            <a:off x="4543752" y="3074087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" name="Google Shape;847;p76">
            <a:extLst>
              <a:ext uri="{FF2B5EF4-FFF2-40B4-BE49-F238E27FC236}">
                <a16:creationId xmlns:a16="http://schemas.microsoft.com/office/drawing/2014/main" id="{CB2E2C54-BB8A-44A4-EFFA-B5CC1F1C6A8F}"/>
              </a:ext>
            </a:extLst>
          </p:cNvPr>
          <p:cNvGrpSpPr/>
          <p:nvPr/>
        </p:nvGrpSpPr>
        <p:grpSpPr>
          <a:xfrm>
            <a:off x="4979949" y="1830099"/>
            <a:ext cx="1698715" cy="1246754"/>
            <a:chOff x="4409300" y="1219942"/>
            <a:chExt cx="1712700" cy="1246754"/>
          </a:xfrm>
        </p:grpSpPr>
        <p:sp>
          <p:nvSpPr>
            <p:cNvPr id="35" name="Google Shape;848;p76">
              <a:extLst>
                <a:ext uri="{FF2B5EF4-FFF2-40B4-BE49-F238E27FC236}">
                  <a16:creationId xmlns:a16="http://schemas.microsoft.com/office/drawing/2014/main" id="{9C95E5F8-107D-24F8-1AB0-2415664F2C7B}"/>
                </a:ext>
              </a:extLst>
            </p:cNvPr>
            <p:cNvSpPr/>
            <p:nvPr/>
          </p:nvSpPr>
          <p:spPr>
            <a:xfrm rot="-1789476">
              <a:off x="5185416" y="2276970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849;p76">
              <a:extLst>
                <a:ext uri="{FF2B5EF4-FFF2-40B4-BE49-F238E27FC236}">
                  <a16:creationId xmlns:a16="http://schemas.microsoft.com/office/drawing/2014/main" id="{ED33CF7E-3BFF-B9E5-876B-3361823726DA}"/>
                </a:ext>
              </a:extLst>
            </p:cNvPr>
            <p:cNvSpPr txBox="1"/>
            <p:nvPr/>
          </p:nvSpPr>
          <p:spPr>
            <a:xfrm>
              <a:off x="4921737" y="1985301"/>
              <a:ext cx="911700" cy="26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03/28/26</a:t>
              </a:r>
              <a:endParaRPr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7" name="Google Shape;850;p76">
              <a:extLst>
                <a:ext uri="{FF2B5EF4-FFF2-40B4-BE49-F238E27FC236}">
                  <a16:creationId xmlns:a16="http://schemas.microsoft.com/office/drawing/2014/main" id="{D818F81D-C187-7257-2323-00D1EC9AE3AD}"/>
                </a:ext>
              </a:extLst>
            </p:cNvPr>
            <p:cNvSpPr/>
            <p:nvPr/>
          </p:nvSpPr>
          <p:spPr>
            <a:xfrm>
              <a:off x="4409300" y="1219942"/>
              <a:ext cx="1712700" cy="7035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851;p76">
              <a:extLst>
                <a:ext uri="{FF2B5EF4-FFF2-40B4-BE49-F238E27FC236}">
                  <a16:creationId xmlns:a16="http://schemas.microsoft.com/office/drawing/2014/main" id="{911B22C1-A993-CB64-BC7F-C18E9F546F01}"/>
                </a:ext>
              </a:extLst>
            </p:cNvPr>
            <p:cNvSpPr/>
            <p:nvPr/>
          </p:nvSpPr>
          <p:spPr>
            <a:xfrm rot="10800000">
              <a:off x="5220625" y="1919036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852;p76">
              <a:extLst>
                <a:ext uri="{FF2B5EF4-FFF2-40B4-BE49-F238E27FC236}">
                  <a16:creationId xmlns:a16="http://schemas.microsoft.com/office/drawing/2014/main" id="{11D9AA40-514F-AF07-830F-A5CE5D396DE8}"/>
                </a:ext>
              </a:extLst>
            </p:cNvPr>
            <p:cNvSpPr txBox="1"/>
            <p:nvPr/>
          </p:nvSpPr>
          <p:spPr>
            <a:xfrm>
              <a:off x="4453550" y="1257142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Interactive Features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Rendering</a:t>
              </a:r>
            </a:p>
          </p:txBody>
        </p:sp>
      </p:grpSp>
      <p:grpSp>
        <p:nvGrpSpPr>
          <p:cNvPr id="54" name="Google Shape;867;p76">
            <a:extLst>
              <a:ext uri="{FF2B5EF4-FFF2-40B4-BE49-F238E27FC236}">
                <a16:creationId xmlns:a16="http://schemas.microsoft.com/office/drawing/2014/main" id="{AF98B7BA-3D1F-E7C5-3A8F-2F934F88B263}"/>
              </a:ext>
            </a:extLst>
          </p:cNvPr>
          <p:cNvGrpSpPr/>
          <p:nvPr/>
        </p:nvGrpSpPr>
        <p:grpSpPr>
          <a:xfrm>
            <a:off x="6253732" y="3131271"/>
            <a:ext cx="1698715" cy="898312"/>
            <a:chOff x="3021971" y="2541798"/>
            <a:chExt cx="1712700" cy="898312"/>
          </a:xfrm>
        </p:grpSpPr>
        <p:sp>
          <p:nvSpPr>
            <p:cNvPr id="55" name="Google Shape;868;p76">
              <a:extLst>
                <a:ext uri="{FF2B5EF4-FFF2-40B4-BE49-F238E27FC236}">
                  <a16:creationId xmlns:a16="http://schemas.microsoft.com/office/drawing/2014/main" id="{405C1938-B672-B748-813D-AFE52244FE93}"/>
                </a:ext>
              </a:extLst>
            </p:cNvPr>
            <p:cNvSpPr txBox="1"/>
            <p:nvPr/>
          </p:nvSpPr>
          <p:spPr>
            <a:xfrm>
              <a:off x="3529877" y="2735584"/>
              <a:ext cx="696900" cy="27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04/04</a:t>
              </a:r>
              <a:r>
                <a:rPr lang="en" sz="800" b="1" i="0" u="none" strike="noStrike" cap="none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/26</a:t>
              </a:r>
              <a:endParaRPr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6" name="Google Shape;869;p76">
              <a:extLst>
                <a:ext uri="{FF2B5EF4-FFF2-40B4-BE49-F238E27FC236}">
                  <a16:creationId xmlns:a16="http://schemas.microsoft.com/office/drawing/2014/main" id="{33A6CB39-F04F-A8CB-1A82-F1DA8B04AAE6}"/>
                </a:ext>
              </a:extLst>
            </p:cNvPr>
            <p:cNvSpPr/>
            <p:nvPr/>
          </p:nvSpPr>
          <p:spPr>
            <a:xfrm rot="-1789476">
              <a:off x="3798091" y="2571072"/>
              <a:ext cx="160451" cy="160451"/>
            </a:xfrm>
            <a:prstGeom prst="ellipse">
              <a:avLst/>
            </a:prstGeom>
            <a:solidFill>
              <a:srgbClr val="FFFFFF"/>
            </a:solidFill>
            <a:ln w="38100" cap="flat" cmpd="sng">
              <a:solidFill>
                <a:srgbClr val="85858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870;p76">
              <a:extLst>
                <a:ext uri="{FF2B5EF4-FFF2-40B4-BE49-F238E27FC236}">
                  <a16:creationId xmlns:a16="http://schemas.microsoft.com/office/drawing/2014/main" id="{EA4009CD-8D54-4DEC-3D32-66BBBC0DC9F5}"/>
                </a:ext>
              </a:extLst>
            </p:cNvPr>
            <p:cNvSpPr/>
            <p:nvPr/>
          </p:nvSpPr>
          <p:spPr>
            <a:xfrm>
              <a:off x="3021971" y="3069009"/>
              <a:ext cx="1712700" cy="371100"/>
            </a:xfrm>
            <a:prstGeom prst="roundRect">
              <a:avLst>
                <a:gd name="adj" fmla="val 4485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871;p76">
              <a:extLst>
                <a:ext uri="{FF2B5EF4-FFF2-40B4-BE49-F238E27FC236}">
                  <a16:creationId xmlns:a16="http://schemas.microsoft.com/office/drawing/2014/main" id="{2174CD11-09E8-9196-4F35-AA58BCC5420E}"/>
                </a:ext>
              </a:extLst>
            </p:cNvPr>
            <p:cNvSpPr txBox="1"/>
            <p:nvPr/>
          </p:nvSpPr>
          <p:spPr>
            <a:xfrm>
              <a:off x="3066222" y="3106209"/>
              <a:ext cx="1624200" cy="3339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 dirty="0">
                  <a:solidFill>
                    <a:schemeClr val="tx1"/>
                  </a:solidFill>
                  <a:latin typeface="Arial"/>
                  <a:ea typeface="Arial"/>
                  <a:cs typeface="Arial"/>
                  <a:sym typeface="Arial"/>
                </a:rPr>
                <a:t>Web Integration, Final Review</a:t>
              </a: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872;p76">
              <a:extLst>
                <a:ext uri="{FF2B5EF4-FFF2-40B4-BE49-F238E27FC236}">
                  <a16:creationId xmlns:a16="http://schemas.microsoft.com/office/drawing/2014/main" id="{E3DDD350-BDF7-9A94-52DA-9B675CE2A60C}"/>
                </a:ext>
              </a:extLst>
            </p:cNvPr>
            <p:cNvSpPr/>
            <p:nvPr/>
          </p:nvSpPr>
          <p:spPr>
            <a:xfrm>
              <a:off x="3833325" y="3004364"/>
              <a:ext cx="90000" cy="67500"/>
            </a:xfrm>
            <a:prstGeom prst="triangle">
              <a:avLst>
                <a:gd name="adj" fmla="val 50000"/>
              </a:avLst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endParaRPr sz="1100" b="0" i="0" u="none" strike="noStrike" cap="none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" name="Google Shape;845;p76">
            <a:extLst>
              <a:ext uri="{FF2B5EF4-FFF2-40B4-BE49-F238E27FC236}">
                <a16:creationId xmlns:a16="http://schemas.microsoft.com/office/drawing/2014/main" id="{FD2F85F3-EC08-7986-D0B1-D9F4B09394F6}"/>
              </a:ext>
            </a:extLst>
          </p:cNvPr>
          <p:cNvSpPr/>
          <p:nvPr/>
        </p:nvSpPr>
        <p:spPr>
          <a:xfrm rot="711236" flipH="1">
            <a:off x="3269965" y="3066481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846;p76">
            <a:extLst>
              <a:ext uri="{FF2B5EF4-FFF2-40B4-BE49-F238E27FC236}">
                <a16:creationId xmlns:a16="http://schemas.microsoft.com/office/drawing/2014/main" id="{6A1C8BCD-5DFA-5536-23E0-FCB81482FCCB}"/>
              </a:ext>
            </a:extLst>
          </p:cNvPr>
          <p:cNvSpPr/>
          <p:nvPr/>
        </p:nvSpPr>
        <p:spPr>
          <a:xfrm rot="20888764">
            <a:off x="1988963" y="3064215"/>
            <a:ext cx="1339878" cy="57662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869;p76">
            <a:extLst>
              <a:ext uri="{FF2B5EF4-FFF2-40B4-BE49-F238E27FC236}">
                <a16:creationId xmlns:a16="http://schemas.microsoft.com/office/drawing/2014/main" id="{73C1CA15-B084-1838-63F9-991C431B0175}"/>
              </a:ext>
            </a:extLst>
          </p:cNvPr>
          <p:cNvSpPr/>
          <p:nvPr/>
        </p:nvSpPr>
        <p:spPr>
          <a:xfrm rot="19810524">
            <a:off x="4525728" y="3178654"/>
            <a:ext cx="159141" cy="160451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8585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869;p76">
            <a:extLst>
              <a:ext uri="{FF2B5EF4-FFF2-40B4-BE49-F238E27FC236}">
                <a16:creationId xmlns:a16="http://schemas.microsoft.com/office/drawing/2014/main" id="{E8A78953-259B-1E70-96EE-6B355ED89A2C}"/>
              </a:ext>
            </a:extLst>
          </p:cNvPr>
          <p:cNvSpPr/>
          <p:nvPr/>
        </p:nvSpPr>
        <p:spPr>
          <a:xfrm rot="19810524">
            <a:off x="3235132" y="2903646"/>
            <a:ext cx="159141" cy="160451"/>
          </a:xfrm>
          <a:prstGeom prst="ellipse">
            <a:avLst/>
          </a:prstGeom>
          <a:solidFill>
            <a:srgbClr val="FFFFFF"/>
          </a:solidFill>
          <a:ln w="38100" cap="flat" cmpd="sng">
            <a:solidFill>
              <a:srgbClr val="85858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849;p76">
            <a:extLst>
              <a:ext uri="{FF2B5EF4-FFF2-40B4-BE49-F238E27FC236}">
                <a16:creationId xmlns:a16="http://schemas.microsoft.com/office/drawing/2014/main" id="{FC48EBEC-7EA7-894D-83DE-47C0E2D9B633}"/>
              </a:ext>
            </a:extLst>
          </p:cNvPr>
          <p:cNvSpPr txBox="1"/>
          <p:nvPr/>
        </p:nvSpPr>
        <p:spPr>
          <a:xfrm>
            <a:off x="2879683" y="2557804"/>
            <a:ext cx="904256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03/7/26</a:t>
            </a:r>
            <a:endParaRPr sz="800" b="1" i="0" u="none" strike="noStrike" cap="none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850;p76">
            <a:extLst>
              <a:ext uri="{FF2B5EF4-FFF2-40B4-BE49-F238E27FC236}">
                <a16:creationId xmlns:a16="http://schemas.microsoft.com/office/drawing/2014/main" id="{5CC8C295-0C17-477C-1303-06F14FA31931}"/>
              </a:ext>
            </a:extLst>
          </p:cNvPr>
          <p:cNvSpPr/>
          <p:nvPr/>
        </p:nvSpPr>
        <p:spPr>
          <a:xfrm>
            <a:off x="2371430" y="1792445"/>
            <a:ext cx="1698715" cy="703500"/>
          </a:xfrm>
          <a:prstGeom prst="roundRect">
            <a:avLst>
              <a:gd name="adj" fmla="val 4485"/>
            </a:avLst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852;p76">
            <a:extLst>
              <a:ext uri="{FF2B5EF4-FFF2-40B4-BE49-F238E27FC236}">
                <a16:creationId xmlns:a16="http://schemas.microsoft.com/office/drawing/2014/main" id="{B4297438-228F-7553-436E-D71BA4C91582}"/>
              </a:ext>
            </a:extLst>
          </p:cNvPr>
          <p:cNvSpPr txBox="1"/>
          <p:nvPr/>
        </p:nvSpPr>
        <p:spPr>
          <a:xfrm>
            <a:off x="2415319" y="1829645"/>
            <a:ext cx="1610938" cy="2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Toolkit Decision              </a:t>
            </a:r>
          </a:p>
        </p:txBody>
      </p:sp>
      <p:sp>
        <p:nvSpPr>
          <p:cNvPr id="80" name="Google Shape;868;p76">
            <a:extLst>
              <a:ext uri="{FF2B5EF4-FFF2-40B4-BE49-F238E27FC236}">
                <a16:creationId xmlns:a16="http://schemas.microsoft.com/office/drawing/2014/main" id="{0C1C85D6-121B-2AAC-083B-75BD5192B0E4}"/>
              </a:ext>
            </a:extLst>
          </p:cNvPr>
          <p:cNvSpPr txBox="1"/>
          <p:nvPr/>
        </p:nvSpPr>
        <p:spPr>
          <a:xfrm>
            <a:off x="4255874" y="3339921"/>
            <a:ext cx="691209" cy="2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03/14</a:t>
            </a:r>
            <a:r>
              <a:rPr lang="en" sz="800" b="1" i="0" u="none" strike="noStrike" cap="none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/26</a:t>
            </a:r>
            <a:endParaRPr sz="800" b="1" i="0" u="none" strike="noStrike" cap="none" dirty="0">
              <a:solidFill>
                <a:schemeClr val="tx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71;p76">
            <a:extLst>
              <a:ext uri="{FF2B5EF4-FFF2-40B4-BE49-F238E27FC236}">
                <a16:creationId xmlns:a16="http://schemas.microsoft.com/office/drawing/2014/main" id="{8C8211ED-37D0-6A64-EF7F-6A47C550E02E}"/>
              </a:ext>
            </a:extLst>
          </p:cNvPr>
          <p:cNvSpPr txBox="1"/>
          <p:nvPr/>
        </p:nvSpPr>
        <p:spPr>
          <a:xfrm>
            <a:off x="3800904" y="3627587"/>
            <a:ext cx="1610938" cy="333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Basic </a:t>
            </a:r>
            <a:r>
              <a:rPr lang="en-US" altLang="zh-CN" sz="8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rPr>
              <a:t>Visualization</a:t>
            </a:r>
            <a:endParaRPr sz="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52;p76">
            <a:extLst>
              <a:ext uri="{FF2B5EF4-FFF2-40B4-BE49-F238E27FC236}">
                <a16:creationId xmlns:a16="http://schemas.microsoft.com/office/drawing/2014/main" id="{B00F0B1C-62E4-9713-4329-3FC3CCD3EEEB}"/>
              </a:ext>
            </a:extLst>
          </p:cNvPr>
          <p:cNvSpPr txBox="1"/>
          <p:nvPr/>
        </p:nvSpPr>
        <p:spPr>
          <a:xfrm>
            <a:off x="2415319" y="2051643"/>
            <a:ext cx="1610938" cy="2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lang="en-US" altLang="zh-CN" sz="800" b="0" i="0" u="none" strike="noStrike" cap="none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set Ready</a:t>
            </a:r>
            <a:endParaRPr lang="en-US" sz="8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D5B3DB-451C-DF9E-06F7-A24EF4F17A0E}"/>
              </a:ext>
            </a:extLst>
          </p:cNvPr>
          <p:cNvSpPr txBox="1"/>
          <p:nvPr/>
        </p:nvSpPr>
        <p:spPr>
          <a:xfrm>
            <a:off x="55987" y="4723937"/>
            <a:ext cx="154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000" dirty="0">
                <a:solidFill>
                  <a:schemeClr val="dk1"/>
                </a:solidFill>
              </a:rPr>
              <a:t>03/03/2026</a:t>
            </a:r>
            <a:endParaRPr lang="en-US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884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/>
              <a:t>Things to Do</a:t>
            </a:r>
            <a:endParaRPr/>
          </a:p>
        </p:txBody>
      </p:sp>
      <p:sp>
        <p:nvSpPr>
          <p:cNvPr id="190" name="Google Shape;190;p24"/>
          <p:cNvSpPr txBox="1">
            <a:spLocks noGrp="1"/>
          </p:cNvSpPr>
          <p:nvPr>
            <p:ph type="body" idx="1"/>
          </p:nvPr>
        </p:nvSpPr>
        <p:spPr>
          <a:xfrm>
            <a:off x="628650" y="1380550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endParaRPr lang="en-US" sz="14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Look into Visualization Toolkits</a:t>
            </a:r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endParaRPr sz="14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Data Make-up</a:t>
            </a:r>
            <a:endParaRPr sz="1400" dirty="0"/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Distribution and Tragectory (Consider Field)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Argon Ionization Time (probability </a:t>
            </a:r>
            <a:r>
              <a:rPr lang="en-US" dirty="0"/>
              <a:t>density </a:t>
            </a:r>
            <a:r>
              <a:rPr lang="en-US" sz="1400" dirty="0"/>
              <a:t>function of time) 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Electron Field Vectors</a:t>
            </a:r>
          </a:p>
        </p:txBody>
      </p:sp>
      <p:sp>
        <p:nvSpPr>
          <p:cNvPr id="191" name="Google Shape;191;p24"/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 descr="University logo and wordmark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descr="A circular logo with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4"/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24" descr="A black background with a black square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8B5097-FDFD-8707-DA33-819674672B09}"/>
              </a:ext>
            </a:extLst>
          </p:cNvPr>
          <p:cNvSpPr txBox="1"/>
          <p:nvPr/>
        </p:nvSpPr>
        <p:spPr>
          <a:xfrm>
            <a:off x="55987" y="4684262"/>
            <a:ext cx="1548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sz="2000" dirty="0">
                <a:solidFill>
                  <a:schemeClr val="dk1"/>
                </a:solidFill>
              </a:rPr>
              <a:t>03/03/2026</a:t>
            </a:r>
            <a:endParaRPr lang="en-US"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47E62AFC-5D8E-8897-1D1E-CE25ED1BE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>
            <a:extLst>
              <a:ext uri="{FF2B5EF4-FFF2-40B4-BE49-F238E27FC236}">
                <a16:creationId xmlns:a16="http://schemas.microsoft.com/office/drawing/2014/main" id="{C73FE138-2134-E9E4-5646-6FD963394A9C}"/>
              </a:ext>
            </a:extLst>
          </p:cNvPr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>
            <a:extLst>
              <a:ext uri="{FF2B5EF4-FFF2-40B4-BE49-F238E27FC236}">
                <a16:creationId xmlns:a16="http://schemas.microsoft.com/office/drawing/2014/main" id="{0BF92482-2921-B451-2D9E-6665A5CCA773}"/>
              </a:ext>
            </a:extLst>
          </p:cNvPr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 descr="University logo and wordmark">
            <a:extLst>
              <a:ext uri="{FF2B5EF4-FFF2-40B4-BE49-F238E27FC236}">
                <a16:creationId xmlns:a16="http://schemas.microsoft.com/office/drawing/2014/main" id="{F141060B-617E-39C2-C0AF-D70F49EF48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descr="A circular logo with text&#10;&#10;AI-generated content may be incorrect.">
            <a:extLst>
              <a:ext uri="{FF2B5EF4-FFF2-40B4-BE49-F238E27FC236}">
                <a16:creationId xmlns:a16="http://schemas.microsoft.com/office/drawing/2014/main" id="{9E9913AB-C180-7B15-37F1-50BCC05CA25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4">
            <a:extLst>
              <a:ext uri="{FF2B5EF4-FFF2-40B4-BE49-F238E27FC236}">
                <a16:creationId xmlns:a16="http://schemas.microsoft.com/office/drawing/2014/main" id="{BA00C9E8-6841-A986-6F57-F25310037F61}"/>
              </a:ext>
            </a:extLst>
          </p:cNvPr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B3664C-9A1D-0995-9E33-7105A90BE5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>
            <a:extLst>
              <a:ext uri="{FF2B5EF4-FFF2-40B4-BE49-F238E27FC236}">
                <a16:creationId xmlns:a16="http://schemas.microsoft.com/office/drawing/2014/main" id="{536451D2-636C-5034-0F19-93836AA7718A}"/>
              </a:ext>
            </a:extLst>
          </p:cNvPr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0EB5B9C-B0A5-E9E5-0CF2-883621CFA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BA768A4-03CC-507C-0878-124779668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</p:spPr>
        <p:txBody>
          <a:bodyPr/>
          <a:lstStyle/>
          <a:p>
            <a:r>
              <a:rPr lang="en-US" dirty="0"/>
              <a:t>CSV File</a:t>
            </a:r>
          </a:p>
          <a:p>
            <a:endParaRPr lang="en-US" dirty="0"/>
          </a:p>
          <a:p>
            <a:pPr lvl="1"/>
            <a:r>
              <a:rPr lang="en-US" dirty="0"/>
              <a:t>Stepped Time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Particle type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Position</a:t>
            </a:r>
          </a:p>
          <a:p>
            <a:pPr lvl="1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08DAC6A-CF82-A328-12EF-810D812AD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105" y="373257"/>
            <a:ext cx="3358545" cy="44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5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>
          <a:extLst>
            <a:ext uri="{FF2B5EF4-FFF2-40B4-BE49-F238E27FC236}">
              <a16:creationId xmlns:a16="http://schemas.microsoft.com/office/drawing/2014/main" id="{C91A2A38-9D8E-7594-BF7C-9B82FDF92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>
            <a:extLst>
              <a:ext uri="{FF2B5EF4-FFF2-40B4-BE49-F238E27FC236}">
                <a16:creationId xmlns:a16="http://schemas.microsoft.com/office/drawing/2014/main" id="{2AE499DC-8263-B955-831E-7707B7888B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5742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3000" b="1" dirty="0"/>
              <a:t>Things to Do</a:t>
            </a:r>
            <a:endParaRPr dirty="0"/>
          </a:p>
        </p:txBody>
      </p:sp>
      <p:sp>
        <p:nvSpPr>
          <p:cNvPr id="190" name="Google Shape;190;p24">
            <a:extLst>
              <a:ext uri="{FF2B5EF4-FFF2-40B4-BE49-F238E27FC236}">
                <a16:creationId xmlns:a16="http://schemas.microsoft.com/office/drawing/2014/main" id="{BAF58ACB-4C49-4B4C-767F-4E945EC54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8650" y="1380550"/>
            <a:ext cx="8002800" cy="28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endParaRPr lang="en-US" sz="14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Toolkit selection</a:t>
            </a:r>
          </a:p>
          <a:p>
            <a:pPr lvl="1">
              <a:lnSpc>
                <a:spcPct val="140000"/>
              </a:lnSpc>
              <a:buFont typeface="Arial"/>
              <a:buChar char="-"/>
            </a:pPr>
            <a:r>
              <a:rPr lang="en-US" altLang="en-US" sz="1000" dirty="0" err="1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Plotly</a:t>
            </a:r>
            <a:r>
              <a:rPr lang="en-US" altLang="en-US" sz="1000" dirty="0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, </a:t>
            </a:r>
            <a:r>
              <a:rPr lang="en-US" altLang="en-US" sz="1000" dirty="0" err="1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PyVista</a:t>
            </a:r>
            <a:r>
              <a:rPr lang="en-US" altLang="en-US" sz="1000" dirty="0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, </a:t>
            </a:r>
            <a:r>
              <a:rPr lang="en-US" altLang="en-US" sz="1000" dirty="0" err="1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Vispy</a:t>
            </a:r>
            <a:r>
              <a:rPr lang="en-US" altLang="en-US" sz="1000" dirty="0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, </a:t>
            </a:r>
            <a:r>
              <a:rPr lang="en-US" altLang="en-US" sz="1000" dirty="0" err="1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VPython</a:t>
            </a:r>
            <a:r>
              <a:rPr lang="en-US" altLang="en-US" sz="1000" dirty="0">
                <a:solidFill>
                  <a:srgbClr val="1F1F1F"/>
                </a:solidFill>
                <a:latin typeface="Arial" panose="020B0604020202020204" pitchFamily="34" charset="0"/>
                <a:ea typeface="Google Sans Text"/>
              </a:rPr>
              <a:t>, Mayavi, Matplotlib</a:t>
            </a:r>
            <a:endParaRPr lang="en-US" altLang="en-US" sz="1000" dirty="0">
              <a:solidFill>
                <a:schemeClr val="tx1"/>
              </a:solidFill>
              <a:latin typeface="Arial" panose="020B0604020202020204" pitchFamily="34" charset="0"/>
              <a:ea typeface="Google Sans Text"/>
            </a:endParaRPr>
          </a:p>
          <a:p>
            <a:pPr lvl="1">
              <a:lnSpc>
                <a:spcPct val="140000"/>
              </a:lnSpc>
              <a:buFont typeface="Arial"/>
              <a:buChar char="-"/>
            </a:pPr>
            <a:endParaRPr sz="1000" dirty="0"/>
          </a:p>
          <a:p>
            <a:pPr marL="457200" lvl="0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sz="1400" dirty="0"/>
              <a:t>Data Mapping</a:t>
            </a:r>
            <a:endParaRPr sz="1400" dirty="0"/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" dirty="0"/>
              <a:t>Cylinder Geometry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Distinguished particle types</a:t>
            </a:r>
          </a:p>
          <a:p>
            <a:pPr marL="914400" lvl="1" indent="-317500" algn="l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Char char="-"/>
            </a:pPr>
            <a:r>
              <a:rPr lang="en-US" dirty="0"/>
              <a:t>Particle trajectory</a:t>
            </a:r>
          </a:p>
        </p:txBody>
      </p:sp>
      <p:sp>
        <p:nvSpPr>
          <p:cNvPr id="191" name="Google Shape;191;p24">
            <a:extLst>
              <a:ext uri="{FF2B5EF4-FFF2-40B4-BE49-F238E27FC236}">
                <a16:creationId xmlns:a16="http://schemas.microsoft.com/office/drawing/2014/main" id="{EE1D2496-B40F-BC32-0866-3C44ACCD0B9A}"/>
              </a:ext>
            </a:extLst>
          </p:cNvPr>
          <p:cNvSpPr/>
          <p:nvPr/>
        </p:nvSpPr>
        <p:spPr>
          <a:xfrm>
            <a:off x="0" y="-4697"/>
            <a:ext cx="9144000" cy="580200"/>
          </a:xfrm>
          <a:prstGeom prst="rect">
            <a:avLst/>
          </a:prstGeom>
          <a:solidFill>
            <a:srgbClr val="11284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4">
            <a:extLst>
              <a:ext uri="{FF2B5EF4-FFF2-40B4-BE49-F238E27FC236}">
                <a16:creationId xmlns:a16="http://schemas.microsoft.com/office/drawing/2014/main" id="{770FFF22-6323-C164-5B0B-A1D0A35C761D}"/>
              </a:ext>
            </a:extLst>
          </p:cNvPr>
          <p:cNvSpPr txBox="1"/>
          <p:nvPr/>
        </p:nvSpPr>
        <p:spPr>
          <a:xfrm>
            <a:off x="6349014" y="50217"/>
            <a:ext cx="27390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Electric Propulsion Initiative - ION-I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4" descr="University logo and wordmark">
            <a:extLst>
              <a:ext uri="{FF2B5EF4-FFF2-40B4-BE49-F238E27FC236}">
                <a16:creationId xmlns:a16="http://schemas.microsoft.com/office/drawing/2014/main" id="{CF287F48-AEEB-F0F1-8767-D7C636E8D7A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1161" y="50231"/>
            <a:ext cx="326328" cy="47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 descr="A circular logo with text&#10;&#10;AI-generated content may be incorrect.">
            <a:extLst>
              <a:ext uri="{FF2B5EF4-FFF2-40B4-BE49-F238E27FC236}">
                <a16:creationId xmlns:a16="http://schemas.microsoft.com/office/drawing/2014/main" id="{D895F25F-D5AF-4E8C-5842-FDAED63CB41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" y="-103200"/>
            <a:ext cx="533165" cy="754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4">
            <a:extLst>
              <a:ext uri="{FF2B5EF4-FFF2-40B4-BE49-F238E27FC236}">
                <a16:creationId xmlns:a16="http://schemas.microsoft.com/office/drawing/2014/main" id="{89158E6F-DA9F-E05C-CC5C-0A17A0CC7333}"/>
              </a:ext>
            </a:extLst>
          </p:cNvPr>
          <p:cNvCxnSpPr/>
          <p:nvPr/>
        </p:nvCxnSpPr>
        <p:spPr>
          <a:xfrm>
            <a:off x="589359" y="50231"/>
            <a:ext cx="0" cy="4545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6" name="Google Shape;196;p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9A4B079-EA96-1A59-F0C7-344C777220D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32825" y="3955187"/>
            <a:ext cx="1239726" cy="17534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>
            <a:extLst>
              <a:ext uri="{FF2B5EF4-FFF2-40B4-BE49-F238E27FC236}">
                <a16:creationId xmlns:a16="http://schemas.microsoft.com/office/drawing/2014/main" id="{8D275570-69F3-6B6D-9984-D769A862C59F}"/>
              </a:ext>
            </a:extLst>
          </p:cNvPr>
          <p:cNvSpPr txBox="1"/>
          <p:nvPr/>
        </p:nvSpPr>
        <p:spPr>
          <a:xfrm>
            <a:off x="8857013" y="4831895"/>
            <a:ext cx="231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3111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245</Words>
  <Application>Microsoft Office PowerPoint</Application>
  <PresentationFormat>On-screen Show (16:9)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Space Mono</vt:lpstr>
      <vt:lpstr>Arial</vt:lpstr>
      <vt:lpstr>Roboto</vt:lpstr>
      <vt:lpstr>Simple Light</vt:lpstr>
      <vt:lpstr>PowerPoint Presentation</vt:lpstr>
      <vt:lpstr>PowerPoint Presentation</vt:lpstr>
      <vt:lpstr>Intro</vt:lpstr>
      <vt:lpstr>Plasma Chamber</vt:lpstr>
      <vt:lpstr>Goals</vt:lpstr>
      <vt:lpstr>Timeline</vt:lpstr>
      <vt:lpstr>Things to Do</vt:lpstr>
      <vt:lpstr>Dataset</vt:lpstr>
      <vt:lpstr>Things 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</dc:creator>
  <cp:lastModifiedBy>Qu, Yaoning</cp:lastModifiedBy>
  <cp:revision>2</cp:revision>
  <dcterms:modified xsi:type="dcterms:W3CDTF">2026-03-07T19:51:14Z</dcterms:modified>
</cp:coreProperties>
</file>